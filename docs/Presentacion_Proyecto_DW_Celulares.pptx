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6"/>
  </p:notesMasterIdLst>
  <p:sldIdLst>
    <p:sldId id="256" r:id="rId2"/>
    <p:sldId id="270" r:id="rId3"/>
    <p:sldId id="268" r:id="rId4"/>
    <p:sldId id="271" r:id="rId5"/>
    <p:sldId id="269" r:id="rId6"/>
    <p:sldId id="259" r:id="rId7"/>
    <p:sldId id="260" r:id="rId8"/>
    <p:sldId id="266" r:id="rId9"/>
    <p:sldId id="261" r:id="rId10"/>
    <p:sldId id="267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32"/>
  </p:normalViewPr>
  <p:slideViewPr>
    <p:cSldViewPr snapToGrid="0" snapToObjects="1">
      <p:cViewPr varScale="1">
        <p:scale>
          <a:sx n="106" d="100"/>
          <a:sy n="106" d="100"/>
        </p:scale>
        <p:origin x="1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BC5B4-56B6-D24A-86E7-F801E101B5F1}" type="datetimeFigureOut">
              <a:rPr lang="es-AR" smtClean="0"/>
              <a:t>7/10/25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6696C-651D-AC47-B47C-6793B6AA086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39628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696C-651D-AC47-B47C-6793B6AA086F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72439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6696C-651D-AC47-B47C-6793B6AA086F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7193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5274" y="2105526"/>
            <a:ext cx="7851648" cy="1828800"/>
          </a:xfrm>
        </p:spPr>
        <p:txBody>
          <a:bodyPr>
            <a:normAutofit fontScale="90000"/>
          </a:bodyPr>
          <a:lstStyle/>
          <a:p>
            <a:r>
              <a:rPr dirty="0"/>
              <a:t>Proyecto </a:t>
            </a:r>
            <a:r>
              <a:rPr lang="en-US" dirty="0" err="1"/>
              <a:t>Arquitectura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Data Warehouse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sz="4900" dirty="0"/>
              <a:t> </a:t>
            </a:r>
            <a:r>
              <a:rPr lang="en-US" sz="4900" dirty="0" err="1"/>
              <a:t>Empresa</a:t>
            </a:r>
            <a:r>
              <a:rPr lang="en-US" sz="4900" dirty="0"/>
              <a:t> de </a:t>
            </a:r>
            <a:r>
              <a:rPr sz="4900" dirty="0" err="1"/>
              <a:t>Venta</a:t>
            </a:r>
            <a:r>
              <a:rPr sz="4900" dirty="0"/>
              <a:t> de </a:t>
            </a:r>
            <a:r>
              <a:rPr sz="4900" dirty="0" err="1"/>
              <a:t>Celulares</a:t>
            </a:r>
            <a:endParaRPr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85800" y="4661647"/>
            <a:ext cx="7854696" cy="1752600"/>
          </a:xfrm>
          <a:prstGeom prst="rect">
            <a:avLst/>
          </a:prstGeom>
        </p:spPr>
        <p:txBody>
          <a:bodyPr vert="horz" lIns="0" rIns="18288">
            <a:normAutofit/>
          </a:bodyPr>
          <a:lstStyle/>
          <a:p>
            <a:pPr marL="0" marR="4572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s-A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Alumnos: </a:t>
            </a:r>
          </a:p>
          <a:p>
            <a:pPr marL="457200" marR="45720" lvl="0" indent="-4572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Ramiro</a:t>
            </a:r>
            <a:r>
              <a:rPr kumimoji="0" lang="es-AR" sz="2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s-AR" sz="2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Ottone</a:t>
            </a:r>
            <a:endParaRPr lang="es-AR" sz="2600" dirty="0"/>
          </a:p>
          <a:p>
            <a:pPr marL="457200" marR="45720" lvl="0" indent="-4572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lang="es-AR" sz="2600" dirty="0"/>
              <a:t>Pablo Canteros</a:t>
            </a:r>
            <a:endParaRPr kumimoji="0" lang="es-AR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86588"/>
            <a:ext cx="5378116" cy="860499"/>
          </a:xfrm>
        </p:spPr>
        <p:txBody>
          <a:bodyPr/>
          <a:lstStyle/>
          <a:p>
            <a:r>
              <a:rPr lang="en-US" dirty="0" err="1"/>
              <a:t>Alcance</a:t>
            </a:r>
            <a:r>
              <a:rPr lang="en-US" dirty="0"/>
              <a:t> del </a:t>
            </a:r>
            <a:r>
              <a:rPr lang="en-US" dirty="0" err="1"/>
              <a:t>proyecto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453" y="2296427"/>
            <a:ext cx="8229600" cy="3671236"/>
          </a:xfrm>
        </p:spPr>
        <p:txBody>
          <a:bodyPr/>
          <a:lstStyle/>
          <a:p>
            <a:r>
              <a:rPr lang="en-US" dirty="0" err="1"/>
              <a:t>Solicitante</a:t>
            </a:r>
            <a:r>
              <a:rPr dirty="0"/>
              <a:t>: </a:t>
            </a:r>
            <a:r>
              <a:rPr lang="en-US" dirty="0" err="1"/>
              <a:t>Empresa</a:t>
            </a:r>
            <a:r>
              <a:rPr lang="en-US" dirty="0"/>
              <a:t> que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dirty="0" err="1"/>
              <a:t>cadena</a:t>
            </a:r>
            <a:r>
              <a:rPr dirty="0"/>
              <a:t> de </a:t>
            </a:r>
            <a:r>
              <a:rPr dirty="0" err="1"/>
              <a:t>venta</a:t>
            </a:r>
            <a:r>
              <a:rPr dirty="0"/>
              <a:t> de </a:t>
            </a:r>
            <a:r>
              <a:rPr dirty="0" err="1"/>
              <a:t>celulares</a:t>
            </a:r>
            <a:r>
              <a:rPr dirty="0"/>
              <a:t> con </a:t>
            </a:r>
            <a:r>
              <a:rPr dirty="0" err="1"/>
              <a:t>múltiples</a:t>
            </a:r>
            <a:r>
              <a:rPr dirty="0"/>
              <a:t> </a:t>
            </a:r>
            <a:r>
              <a:rPr dirty="0" err="1"/>
              <a:t>marcas</a:t>
            </a:r>
            <a:r>
              <a:rPr dirty="0"/>
              <a:t> y </a:t>
            </a:r>
            <a:r>
              <a:rPr dirty="0" err="1"/>
              <a:t>modelos</a:t>
            </a:r>
            <a:r>
              <a:rPr dirty="0"/>
              <a:t>.</a:t>
            </a:r>
            <a:r>
              <a:rPr lang="en-US" dirty="0"/>
              <a:t> </a:t>
            </a:r>
            <a:r>
              <a:rPr lang="en-US" dirty="0" err="1"/>
              <a:t>Posee</a:t>
            </a:r>
            <a:r>
              <a:rPr lang="en-US" dirty="0"/>
              <a:t> l</a:t>
            </a:r>
            <a:r>
              <a:rPr dirty="0"/>
              <a:t>ocales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varias</a:t>
            </a:r>
            <a:r>
              <a:rPr dirty="0"/>
              <a:t> </a:t>
            </a:r>
            <a:r>
              <a:rPr dirty="0" err="1"/>
              <a:t>ciudades</a:t>
            </a:r>
            <a:r>
              <a:rPr dirty="0"/>
              <a:t>/</a:t>
            </a:r>
            <a:r>
              <a:rPr dirty="0" err="1"/>
              <a:t>provincias</a:t>
            </a:r>
            <a:r>
              <a:rPr dirty="0"/>
              <a:t>; </a:t>
            </a:r>
            <a:r>
              <a:rPr dirty="0" err="1"/>
              <a:t>ventas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salón</a:t>
            </a:r>
            <a:r>
              <a:rPr dirty="0"/>
              <a:t> y online.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habilitar</a:t>
            </a:r>
            <a:r>
              <a:rPr dirty="0"/>
              <a:t> reporting y </a:t>
            </a:r>
            <a:r>
              <a:rPr dirty="0" err="1"/>
              <a:t>analítica</a:t>
            </a:r>
            <a:r>
              <a:rPr dirty="0"/>
              <a:t> </a:t>
            </a:r>
            <a:r>
              <a:rPr dirty="0" err="1"/>
              <a:t>ágil</a:t>
            </a:r>
            <a:r>
              <a:rPr dirty="0"/>
              <a:t>, </a:t>
            </a:r>
            <a:r>
              <a:rPr dirty="0" err="1"/>
              <a:t>confiable</a:t>
            </a:r>
            <a:r>
              <a:rPr lang="en-US" dirty="0"/>
              <a:t> para la </a:t>
            </a:r>
            <a:r>
              <a:rPr lang="en-US" dirty="0" err="1"/>
              <a:t>toma</a:t>
            </a:r>
            <a:r>
              <a:rPr lang="en-US" dirty="0"/>
              <a:t> de </a:t>
            </a:r>
            <a:r>
              <a:rPr lang="en-US" dirty="0" err="1"/>
              <a:t>decisiones</a:t>
            </a:r>
            <a:r>
              <a:rPr lang="en-US" dirty="0"/>
              <a:t> </a:t>
            </a:r>
            <a:r>
              <a:rPr lang="en-US" dirty="0" err="1"/>
              <a:t>estrategicas</a:t>
            </a:r>
            <a:r>
              <a:rPr lang="en-US" dirty="0"/>
              <a:t> de la </a:t>
            </a:r>
            <a:r>
              <a:rPr lang="en-US" dirty="0" err="1"/>
              <a:t>empresa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3711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FE8D77-8D64-F309-0A8D-F89D59D74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Problemas actuales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80EC22-1498-3D3C-993C-F8F0EA1AAFA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935480"/>
            <a:ext cx="8613705" cy="18774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None/>
              <a:defRPr sz="2000">
                <a:solidFill>
                  <a:srgbClr val="262626"/>
                </a:solidFill>
              </a:defRPr>
            </a:pPr>
            <a:r>
              <a:rPr dirty="0"/>
              <a:t>•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repartida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múltiples</a:t>
            </a:r>
            <a:r>
              <a:rPr dirty="0"/>
              <a:t> </a:t>
            </a:r>
            <a:r>
              <a:rPr dirty="0" err="1"/>
              <a:t>sistemas</a:t>
            </a:r>
            <a:r>
              <a:rPr dirty="0"/>
              <a:t> y excels</a:t>
            </a:r>
          </a:p>
          <a:p>
            <a:pPr marL="0" indent="0">
              <a:buNone/>
              <a:defRPr sz="2000">
                <a:solidFill>
                  <a:srgbClr val="262626"/>
                </a:solidFill>
              </a:defRPr>
            </a:pPr>
            <a:r>
              <a:rPr dirty="0"/>
              <a:t>• KPIs </a:t>
            </a:r>
            <a:r>
              <a:rPr lang="en-US" dirty="0"/>
              <a:t>(</a:t>
            </a:r>
            <a:r>
              <a:rPr lang="en-US" dirty="0" err="1"/>
              <a:t>reportes</a:t>
            </a:r>
            <a:r>
              <a:rPr lang="en-US" dirty="0"/>
              <a:t>) </a:t>
            </a:r>
            <a:r>
              <a:rPr dirty="0" err="1"/>
              <a:t>inconsistentes</a:t>
            </a:r>
            <a:r>
              <a:rPr dirty="0"/>
              <a:t> entre </a:t>
            </a:r>
            <a:r>
              <a:rPr dirty="0" err="1"/>
              <a:t>áreas</a:t>
            </a:r>
            <a:endParaRPr dirty="0"/>
          </a:p>
          <a:p>
            <a:pPr marL="0" indent="0">
              <a:buNone/>
              <a:defRPr sz="2000">
                <a:solidFill>
                  <a:srgbClr val="262626"/>
                </a:solidFill>
              </a:defRPr>
            </a:pPr>
            <a:r>
              <a:rPr dirty="0"/>
              <a:t>• </a:t>
            </a:r>
            <a:r>
              <a:rPr dirty="0" err="1"/>
              <a:t>Lentitud</a:t>
            </a:r>
            <a:r>
              <a:rPr dirty="0"/>
              <a:t> para responder </a:t>
            </a:r>
            <a:r>
              <a:rPr dirty="0" err="1"/>
              <a:t>preguntas</a:t>
            </a:r>
            <a:r>
              <a:rPr dirty="0"/>
              <a:t> del </a:t>
            </a:r>
            <a:r>
              <a:rPr dirty="0" err="1"/>
              <a:t>negocio</a:t>
            </a:r>
            <a:endParaRPr dirty="0"/>
          </a:p>
          <a:p>
            <a:pPr marL="0" indent="0">
              <a:buNone/>
              <a:defRPr sz="2000">
                <a:solidFill>
                  <a:srgbClr val="262626"/>
                </a:solidFill>
              </a:defRPr>
            </a:pPr>
            <a:r>
              <a:rPr dirty="0"/>
              <a:t>• Alto </a:t>
            </a:r>
            <a:r>
              <a:rPr dirty="0" err="1"/>
              <a:t>costo</a:t>
            </a:r>
            <a:r>
              <a:rPr dirty="0"/>
              <a:t> de </a:t>
            </a:r>
            <a:r>
              <a:rPr dirty="0" err="1"/>
              <a:t>mantener</a:t>
            </a:r>
            <a:r>
              <a:rPr dirty="0"/>
              <a:t> </a:t>
            </a:r>
            <a:r>
              <a:rPr dirty="0" err="1"/>
              <a:t>reportes</a:t>
            </a:r>
            <a:r>
              <a:rPr dirty="0"/>
              <a:t> sin </a:t>
            </a:r>
            <a:r>
              <a:rPr dirty="0" err="1"/>
              <a:t>trazabilidad</a:t>
            </a:r>
            <a:endParaRPr lang="en-US" dirty="0"/>
          </a:p>
          <a:p>
            <a:pPr marL="0" indent="0">
              <a:buNone/>
              <a:defRPr sz="2000">
                <a:solidFill>
                  <a:srgbClr val="262626"/>
                </a:solidFill>
              </a:defRPr>
            </a:pPr>
            <a:r>
              <a:rPr lang="es-AR" dirty="0"/>
              <a:t>• </a:t>
            </a:r>
            <a:r>
              <a:rPr dirty="0" err="1"/>
              <a:t>Impacto</a:t>
            </a:r>
            <a:r>
              <a:rPr dirty="0"/>
              <a:t>: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tardías</a:t>
            </a:r>
            <a:r>
              <a:rPr dirty="0"/>
              <a:t>, </a:t>
            </a:r>
            <a:r>
              <a:rPr dirty="0" err="1"/>
              <a:t>riesgos</a:t>
            </a:r>
            <a:r>
              <a:rPr dirty="0"/>
              <a:t> </a:t>
            </a:r>
            <a:r>
              <a:rPr dirty="0" err="1"/>
              <a:t>operativos</a:t>
            </a:r>
            <a:r>
              <a:rPr dirty="0"/>
              <a:t> y </a:t>
            </a:r>
            <a:r>
              <a:rPr dirty="0" err="1"/>
              <a:t>pérdida</a:t>
            </a:r>
            <a:r>
              <a:rPr dirty="0"/>
              <a:t> de </a:t>
            </a:r>
            <a:r>
              <a:rPr dirty="0" err="1"/>
              <a:t>oportunidades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7992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0202B-6E55-D212-97FD-F34F438EB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Porque un modelo estrella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F86DD8-6C80-00D6-6C47-635E3A1CD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62626"/>
                </a:solidFill>
              </a:defRPr>
            </a:pPr>
            <a:r>
              <a:rPr lang="es-AR" dirty="0"/>
              <a:t>Estructura simple para usuarios y BI (Hechos + Dimensiones)</a:t>
            </a:r>
          </a:p>
          <a:p>
            <a:pPr>
              <a:defRPr sz="2000">
                <a:solidFill>
                  <a:srgbClr val="262626"/>
                </a:solidFill>
              </a:defRPr>
            </a:pPr>
            <a:r>
              <a:rPr lang="es-AR" dirty="0"/>
              <a:t>Consultas más rápidas con </a:t>
            </a:r>
            <a:r>
              <a:rPr lang="es-AR" dirty="0" err="1"/>
              <a:t>joins</a:t>
            </a:r>
            <a:r>
              <a:rPr lang="es-AR" dirty="0"/>
              <a:t> predecibles</a:t>
            </a:r>
          </a:p>
          <a:p>
            <a:pPr>
              <a:defRPr sz="2000">
                <a:solidFill>
                  <a:srgbClr val="262626"/>
                </a:solidFill>
              </a:defRPr>
            </a:pPr>
            <a:r>
              <a:rPr lang="es-AR" dirty="0"/>
              <a:t>Métricas consistentes en un tiempo definido</a:t>
            </a:r>
          </a:p>
          <a:p>
            <a:pPr>
              <a:defRPr sz="2000">
                <a:solidFill>
                  <a:srgbClr val="262626"/>
                </a:solidFill>
              </a:defRPr>
            </a:pPr>
            <a:r>
              <a:rPr lang="es-AR" dirty="0"/>
              <a:t>Escalable y extensible sin rediseños complejos</a:t>
            </a:r>
          </a:p>
        </p:txBody>
      </p:sp>
    </p:spTree>
    <p:extLst>
      <p:ext uri="{BB962C8B-B14F-4D97-AF65-F5344CB8AC3E}">
        <p14:creationId xmlns:p14="http://schemas.microsoft.com/office/powerpoint/2010/main" val="463737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1F820-FCAC-D7CC-2685-C7E13046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449FF0-9AE8-1A21-9DDE-174A7FB70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62626"/>
                </a:solidFill>
              </a:defRPr>
            </a:pPr>
            <a:r>
              <a:rPr lang="es-AR" dirty="0"/>
              <a:t>Unificar datos</a:t>
            </a:r>
          </a:p>
          <a:p>
            <a:pPr>
              <a:defRPr sz="2000">
                <a:solidFill>
                  <a:srgbClr val="262626"/>
                </a:solidFill>
              </a:defRPr>
            </a:pPr>
            <a:r>
              <a:rPr lang="es-AR" dirty="0"/>
              <a:t>Acelerar reportes y análisis</a:t>
            </a:r>
          </a:p>
          <a:p>
            <a:pPr>
              <a:defRPr sz="2000">
                <a:solidFill>
                  <a:srgbClr val="262626"/>
                </a:solidFill>
              </a:defRPr>
            </a:pPr>
            <a:r>
              <a:rPr lang="es-AR" dirty="0"/>
              <a:t>Medir rentabilidad por canal, local, marca y cliente</a:t>
            </a:r>
          </a:p>
          <a:p>
            <a:pPr>
              <a:defRPr sz="2000">
                <a:solidFill>
                  <a:srgbClr val="262626"/>
                </a:solidFill>
              </a:defRPr>
            </a:pPr>
            <a:r>
              <a:rPr lang="es-AR" dirty="0"/>
              <a:t>Calidad de datos para toma de decisiones estratégicas.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13A1784-6922-D458-CC40-0C8B68D8C891}"/>
              </a:ext>
            </a:extLst>
          </p:cNvPr>
          <p:cNvSpPr/>
          <p:nvPr/>
        </p:nvSpPr>
        <p:spPr>
          <a:xfrm>
            <a:off x="887932" y="3911066"/>
            <a:ext cx="1617043" cy="1475072"/>
          </a:xfrm>
          <a:prstGeom prst="roundRect">
            <a:avLst/>
          </a:prstGeom>
          <a:solidFill>
            <a:srgbClr val="E6E6E6"/>
          </a:solidFill>
          <a:ln>
            <a:solidFill>
              <a:srgbClr val="073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262626"/>
                </a:solidFill>
              </a:defRPr>
            </a:pPr>
            <a:r>
              <a:rPr dirty="0"/>
              <a:t>OLTP</a:t>
            </a:r>
          </a:p>
          <a:p>
            <a:r>
              <a:rPr dirty="0"/>
              <a:t>(</a:t>
            </a:r>
            <a:r>
              <a:rPr dirty="0" err="1"/>
              <a:t>Operación</a:t>
            </a:r>
            <a:r>
              <a:rPr dirty="0"/>
              <a:t>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0AB13A-EACD-8E89-EC86-2B6DE549A055}"/>
              </a:ext>
            </a:extLst>
          </p:cNvPr>
          <p:cNvSpPr/>
          <p:nvPr/>
        </p:nvSpPr>
        <p:spPr>
          <a:xfrm>
            <a:off x="2798547" y="3898233"/>
            <a:ext cx="1617043" cy="1475072"/>
          </a:xfrm>
          <a:prstGeom prst="roundRect">
            <a:avLst/>
          </a:prstGeom>
          <a:solidFill>
            <a:srgbClr val="00AEEF"/>
          </a:solidFill>
          <a:ln>
            <a:solidFill>
              <a:srgbClr val="073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ETL/ELT</a:t>
            </a:r>
          </a:p>
          <a:p>
            <a:r>
              <a:rPr dirty="0"/>
              <a:t>(Ingesta y Calidad)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3C41BF8-2C94-92EF-1E00-902FB2B98ED8}"/>
              </a:ext>
            </a:extLst>
          </p:cNvPr>
          <p:cNvSpPr/>
          <p:nvPr/>
        </p:nvSpPr>
        <p:spPr>
          <a:xfrm>
            <a:off x="4709162" y="3907858"/>
            <a:ext cx="1617043" cy="1475072"/>
          </a:xfrm>
          <a:prstGeom prst="roundRect">
            <a:avLst/>
          </a:prstGeom>
          <a:solidFill>
            <a:srgbClr val="008587"/>
          </a:solidFill>
          <a:ln>
            <a:solidFill>
              <a:srgbClr val="073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DW – </a:t>
            </a:r>
            <a:r>
              <a:rPr dirty="0" err="1"/>
              <a:t>Modelo</a:t>
            </a:r>
            <a:r>
              <a:rPr dirty="0"/>
              <a:t> Estrella</a:t>
            </a:r>
          </a:p>
          <a:p>
            <a:r>
              <a:rPr dirty="0"/>
              <a:t>(Fact + </a:t>
            </a:r>
            <a:r>
              <a:rPr dirty="0" err="1"/>
              <a:t>Dimensiones</a:t>
            </a:r>
            <a:r>
              <a:rPr dirty="0"/>
              <a:t>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465202D-56A3-580A-A937-B142FD9CB7E0}"/>
              </a:ext>
            </a:extLst>
          </p:cNvPr>
          <p:cNvSpPr/>
          <p:nvPr/>
        </p:nvSpPr>
        <p:spPr>
          <a:xfrm>
            <a:off x="6619777" y="3907858"/>
            <a:ext cx="1617043" cy="1475072"/>
          </a:xfrm>
          <a:prstGeom prst="roundRect">
            <a:avLst/>
          </a:prstGeom>
          <a:solidFill>
            <a:srgbClr val="E6E6E6"/>
          </a:solidFill>
          <a:ln>
            <a:solidFill>
              <a:srgbClr val="073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262626"/>
                </a:solidFill>
              </a:defRPr>
            </a:pPr>
            <a:r>
              <a:rPr dirty="0"/>
              <a:t>BI / Analytics</a:t>
            </a:r>
          </a:p>
          <a:p>
            <a:r>
              <a:rPr dirty="0"/>
              <a:t>(Power BI)</a:t>
            </a:r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1CDB7E5D-4695-63B5-4F9F-9B11AC5FE17C}"/>
              </a:ext>
            </a:extLst>
          </p:cNvPr>
          <p:cNvCxnSpPr>
            <a:cxnSpLocks/>
          </p:cNvCxnSpPr>
          <p:nvPr/>
        </p:nvCxnSpPr>
        <p:spPr>
          <a:xfrm>
            <a:off x="2529040" y="4635769"/>
            <a:ext cx="269507" cy="0"/>
          </a:xfrm>
          <a:prstGeom prst="line">
            <a:avLst/>
          </a:prstGeom>
          <a:ln>
            <a:solidFill>
              <a:srgbClr val="07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A599E3BF-7302-9A0F-93B5-8BEAC11B9ABD}"/>
              </a:ext>
            </a:extLst>
          </p:cNvPr>
          <p:cNvCxnSpPr>
            <a:cxnSpLocks/>
          </p:cNvCxnSpPr>
          <p:nvPr/>
        </p:nvCxnSpPr>
        <p:spPr>
          <a:xfrm>
            <a:off x="4415590" y="4645394"/>
            <a:ext cx="269507" cy="0"/>
          </a:xfrm>
          <a:prstGeom prst="line">
            <a:avLst/>
          </a:prstGeom>
          <a:ln>
            <a:solidFill>
              <a:srgbClr val="07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F207AA43-9F2E-33EE-8CEF-18410B31204F}"/>
              </a:ext>
            </a:extLst>
          </p:cNvPr>
          <p:cNvCxnSpPr>
            <a:cxnSpLocks/>
          </p:cNvCxnSpPr>
          <p:nvPr/>
        </p:nvCxnSpPr>
        <p:spPr>
          <a:xfrm>
            <a:off x="6326205" y="4645394"/>
            <a:ext cx="269507" cy="0"/>
          </a:xfrm>
          <a:prstGeom prst="line">
            <a:avLst/>
          </a:prstGeom>
          <a:ln>
            <a:solidFill>
              <a:srgbClr val="07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833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OLTP normalizado – Tablas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Catálogos</a:t>
            </a:r>
            <a:r>
              <a:rPr dirty="0"/>
              <a:t>: </a:t>
            </a:r>
            <a:r>
              <a:rPr dirty="0" err="1"/>
              <a:t>Ciudades</a:t>
            </a:r>
            <a:r>
              <a:rPr dirty="0"/>
              <a:t>, Locales, </a:t>
            </a:r>
            <a:r>
              <a:rPr dirty="0" err="1"/>
              <a:t>Marcas</a:t>
            </a:r>
            <a:r>
              <a:rPr dirty="0"/>
              <a:t>, </a:t>
            </a:r>
            <a:r>
              <a:rPr dirty="0" err="1"/>
              <a:t>Modelos</a:t>
            </a:r>
            <a:r>
              <a:rPr dirty="0"/>
              <a:t>, </a:t>
            </a:r>
            <a:r>
              <a:rPr dirty="0" err="1"/>
              <a:t>Vendedores</a:t>
            </a:r>
            <a:r>
              <a:rPr dirty="0"/>
              <a:t>, </a:t>
            </a:r>
            <a:r>
              <a:rPr dirty="0" err="1"/>
              <a:t>Clientes</a:t>
            </a:r>
            <a:r>
              <a:rPr dirty="0"/>
              <a:t>, </a:t>
            </a:r>
            <a:r>
              <a:rPr dirty="0" err="1"/>
              <a:t>FormasPago</a:t>
            </a:r>
            <a:r>
              <a:rPr dirty="0"/>
              <a:t>.</a:t>
            </a:r>
          </a:p>
          <a:p>
            <a:r>
              <a:rPr dirty="0" err="1"/>
              <a:t>Transaccionales</a:t>
            </a:r>
            <a:r>
              <a:rPr dirty="0"/>
              <a:t>: Ventas y </a:t>
            </a:r>
            <a:r>
              <a:rPr dirty="0" err="1"/>
              <a:t>DetalleVenta</a:t>
            </a:r>
            <a:r>
              <a:rPr dirty="0"/>
              <a:t>.</a:t>
            </a:r>
          </a:p>
          <a:p>
            <a:r>
              <a:rPr dirty="0" err="1"/>
              <a:t>Integridad</a:t>
            </a:r>
            <a:r>
              <a:rPr dirty="0"/>
              <a:t>: claves </a:t>
            </a:r>
            <a:r>
              <a:rPr dirty="0" err="1"/>
              <a:t>primarias</a:t>
            </a:r>
            <a:r>
              <a:rPr dirty="0"/>
              <a:t> y </a:t>
            </a:r>
            <a:r>
              <a:rPr dirty="0" err="1"/>
              <a:t>foráneas</a:t>
            </a:r>
            <a:r>
              <a:rPr dirty="0"/>
              <a:t>;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6FFA503-F2E8-E17E-4DAA-38D4FA15C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38606"/>
            <a:ext cx="8556643" cy="13446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de ingesta y ETL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ETL </a:t>
            </a:r>
            <a:r>
              <a:rPr dirty="0" err="1"/>
              <a:t>inicial</a:t>
            </a:r>
            <a:r>
              <a:rPr dirty="0"/>
              <a:t>: carga de </a:t>
            </a:r>
            <a:r>
              <a:rPr dirty="0" err="1"/>
              <a:t>catálogos</a:t>
            </a:r>
            <a:r>
              <a:rPr dirty="0"/>
              <a:t> y </a:t>
            </a:r>
            <a:r>
              <a:rPr dirty="0" err="1"/>
              <a:t>generación</a:t>
            </a:r>
            <a:r>
              <a:rPr dirty="0"/>
              <a:t> de </a:t>
            </a:r>
            <a:r>
              <a:rPr lang="en-US" dirty="0" err="1"/>
              <a:t>tabla</a:t>
            </a:r>
            <a:r>
              <a:rPr lang="en-US" dirty="0"/>
              <a:t> de  </a:t>
            </a:r>
            <a:r>
              <a:rPr dirty="0" err="1"/>
              <a:t>hechos</a:t>
            </a:r>
            <a:r>
              <a:rPr dirty="0"/>
              <a:t>.</a:t>
            </a:r>
          </a:p>
          <a:p>
            <a:r>
              <a:rPr dirty="0" err="1"/>
              <a:t>Reproceso</a:t>
            </a:r>
            <a:r>
              <a:rPr dirty="0"/>
              <a:t> </a:t>
            </a:r>
            <a:r>
              <a:rPr dirty="0" err="1"/>
              <a:t>diario</a:t>
            </a:r>
            <a:r>
              <a:rPr dirty="0"/>
              <a:t> incremental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fecha</a:t>
            </a:r>
            <a:r>
              <a:rPr dirty="0"/>
              <a:t> de </a:t>
            </a:r>
            <a:r>
              <a:rPr dirty="0" err="1"/>
              <a:t>venta</a:t>
            </a:r>
            <a:r>
              <a:rPr lang="en-US" dirty="0"/>
              <a:t>.</a:t>
            </a:r>
          </a:p>
          <a:p>
            <a:r>
              <a:rPr dirty="0"/>
              <a:t>SCD Tipo 1 para </a:t>
            </a:r>
            <a:r>
              <a:rPr dirty="0" err="1"/>
              <a:t>dimensiones</a:t>
            </a:r>
            <a:r>
              <a:rPr dirty="0"/>
              <a:t>; control de </a:t>
            </a:r>
            <a:r>
              <a:rPr dirty="0" err="1"/>
              <a:t>duplicados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hechos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EC5D765F-E52A-C244-62D9-5E86E17D2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219" y="962526"/>
            <a:ext cx="4440145" cy="5618747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51BFC10C-D069-48D3-61A9-58295EE34463}"/>
              </a:ext>
            </a:extLst>
          </p:cNvPr>
          <p:cNvSpPr txBox="1"/>
          <p:nvPr/>
        </p:nvSpPr>
        <p:spPr>
          <a:xfrm>
            <a:off x="365692" y="1275347"/>
            <a:ext cx="2021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Modelo relacional</a:t>
            </a:r>
          </a:p>
        </p:txBody>
      </p:sp>
    </p:spTree>
    <p:extLst>
      <p:ext uri="{BB962C8B-B14F-4D97-AF65-F5344CB8AC3E}">
        <p14:creationId xmlns:p14="http://schemas.microsoft.com/office/powerpoint/2010/main" val="2699351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Estrella</a:t>
            </a:r>
            <a:r>
              <a:rPr dirty="0"/>
              <a:t> (DW)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Tabla</a:t>
            </a:r>
            <a:r>
              <a:rPr lang="en-US" sz="2400" dirty="0"/>
              <a:t> de </a:t>
            </a:r>
            <a:r>
              <a:rPr sz="2400" dirty="0" err="1"/>
              <a:t>Hecho</a:t>
            </a:r>
            <a:r>
              <a:rPr sz="2400" dirty="0"/>
              <a:t>: </a:t>
            </a:r>
            <a:r>
              <a:rPr sz="2400" dirty="0" err="1"/>
              <a:t>FactVentas</a:t>
            </a:r>
            <a:endParaRPr sz="2400" dirty="0"/>
          </a:p>
          <a:p>
            <a:r>
              <a:rPr lang="en-US" sz="2400" dirty="0" err="1"/>
              <a:t>Tablas</a:t>
            </a:r>
            <a:r>
              <a:rPr lang="en-US" sz="2400" dirty="0"/>
              <a:t> </a:t>
            </a:r>
            <a:r>
              <a:rPr sz="2400" dirty="0" err="1"/>
              <a:t>Dimensiones</a:t>
            </a:r>
            <a:r>
              <a:rPr sz="2400" dirty="0"/>
              <a:t>: </a:t>
            </a:r>
            <a:r>
              <a:rPr sz="2400" dirty="0" err="1"/>
              <a:t>Fecha</a:t>
            </a:r>
            <a:r>
              <a:rPr sz="2400" dirty="0"/>
              <a:t>, </a:t>
            </a:r>
            <a:r>
              <a:rPr sz="2400" dirty="0" err="1"/>
              <a:t>Cliente</a:t>
            </a:r>
            <a:r>
              <a:rPr sz="2400" dirty="0"/>
              <a:t>, </a:t>
            </a:r>
            <a:r>
              <a:rPr sz="2400" dirty="0" err="1"/>
              <a:t>Producto</a:t>
            </a:r>
            <a:r>
              <a:rPr sz="2400" dirty="0"/>
              <a:t>, Local, </a:t>
            </a:r>
            <a:r>
              <a:rPr sz="2400" dirty="0" err="1"/>
              <a:t>Vendedor</a:t>
            </a:r>
            <a:r>
              <a:rPr sz="2400" dirty="0"/>
              <a:t>, Forma de Pago.</a:t>
            </a:r>
          </a:p>
        </p:txBody>
      </p:sp>
      <p:grpSp>
        <p:nvGrpSpPr>
          <p:cNvPr id="23" name="22 Grupo"/>
          <p:cNvGrpSpPr/>
          <p:nvPr/>
        </p:nvGrpSpPr>
        <p:grpSpPr>
          <a:xfrm>
            <a:off x="457200" y="3784899"/>
            <a:ext cx="8046720" cy="2707024"/>
            <a:chOff x="457200" y="3784899"/>
            <a:chExt cx="8046720" cy="2707024"/>
          </a:xfrm>
        </p:grpSpPr>
        <p:sp>
          <p:nvSpPr>
            <p:cNvPr id="4" name="Rectangle 3"/>
            <p:cNvSpPr/>
            <p:nvPr/>
          </p:nvSpPr>
          <p:spPr>
            <a:xfrm>
              <a:off x="3012141" y="4711849"/>
              <a:ext cx="27432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dirty="0" err="1"/>
                <a:t>FactVentas</a:t>
              </a:r>
              <a:endParaRPr dirty="0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307976" y="3784899"/>
              <a:ext cx="2286000" cy="73152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t>DimFecha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57200" y="5394643"/>
              <a:ext cx="2286000" cy="73152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dirty="0" err="1"/>
                <a:t>DimCliente</a:t>
              </a:r>
              <a:endParaRPr dirty="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57200" y="4346089"/>
              <a:ext cx="2286000" cy="73152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dirty="0" err="1"/>
                <a:t>DimProducto</a:t>
              </a:r>
              <a:endParaRPr dirty="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17920" y="4346089"/>
              <a:ext cx="2286000" cy="73152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dirty="0" err="1"/>
                <a:t>DimLocal</a:t>
              </a:r>
              <a:endParaRPr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17920" y="5260489"/>
              <a:ext cx="2286000" cy="73152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dirty="0" err="1"/>
                <a:t>DimVendedor</a:t>
              </a:r>
              <a:endParaRPr dirty="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307976" y="5760403"/>
              <a:ext cx="2286000" cy="73152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dirty="0" err="1"/>
                <a:t>DimFormaPago</a:t>
              </a:r>
              <a:endParaRPr dirty="0"/>
            </a:p>
          </p:txBody>
        </p:sp>
        <p:cxnSp>
          <p:nvCxnSpPr>
            <p:cNvPr id="12" name="11 Conector recto de flecha"/>
            <p:cNvCxnSpPr>
              <a:endCxn id="7" idx="3"/>
            </p:cNvCxnSpPr>
            <p:nvPr/>
          </p:nvCxnSpPr>
          <p:spPr>
            <a:xfrm flipH="1" flipV="1">
              <a:off x="2743200" y="4711849"/>
              <a:ext cx="268941" cy="2008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 de flecha"/>
            <p:cNvCxnSpPr>
              <a:stCxn id="4" idx="0"/>
              <a:endCxn id="5" idx="2"/>
            </p:cNvCxnSpPr>
            <p:nvPr/>
          </p:nvCxnSpPr>
          <p:spPr>
            <a:xfrm flipV="1">
              <a:off x="4383741" y="4516419"/>
              <a:ext cx="67235" cy="19543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5 Conector recto de flecha"/>
            <p:cNvCxnSpPr/>
            <p:nvPr/>
          </p:nvCxnSpPr>
          <p:spPr>
            <a:xfrm flipV="1">
              <a:off x="5755341" y="4711849"/>
              <a:ext cx="462579" cy="2008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17 Conector recto de flecha"/>
            <p:cNvCxnSpPr>
              <a:stCxn id="4" idx="3"/>
              <a:endCxn id="9" idx="1"/>
            </p:cNvCxnSpPr>
            <p:nvPr/>
          </p:nvCxnSpPr>
          <p:spPr>
            <a:xfrm>
              <a:off x="5755341" y="5169049"/>
              <a:ext cx="462579" cy="4572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>
              <a:stCxn id="4" idx="2"/>
              <a:endCxn id="10" idx="0"/>
            </p:cNvCxnSpPr>
            <p:nvPr/>
          </p:nvCxnSpPr>
          <p:spPr>
            <a:xfrm>
              <a:off x="4383741" y="5626249"/>
              <a:ext cx="67235" cy="1341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Conector recto de flecha"/>
            <p:cNvCxnSpPr>
              <a:endCxn id="6" idx="3"/>
            </p:cNvCxnSpPr>
            <p:nvPr/>
          </p:nvCxnSpPr>
          <p:spPr>
            <a:xfrm flipH="1">
              <a:off x="2743200" y="5394643"/>
              <a:ext cx="268941" cy="36576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579482E-9DCF-6DC1-999D-7A0A33407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100" y="770021"/>
            <a:ext cx="6077799" cy="608797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1820E84-FD81-0203-4DC0-06BF553C164A}"/>
              </a:ext>
            </a:extLst>
          </p:cNvPr>
          <p:cNvSpPr txBox="1"/>
          <p:nvPr/>
        </p:nvSpPr>
        <p:spPr>
          <a:xfrm>
            <a:off x="348916" y="1359569"/>
            <a:ext cx="1840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Modelo Estrella</a:t>
            </a:r>
          </a:p>
        </p:txBody>
      </p:sp>
    </p:spTree>
    <p:extLst>
      <p:ext uri="{BB962C8B-B14F-4D97-AF65-F5344CB8AC3E}">
        <p14:creationId xmlns:p14="http://schemas.microsoft.com/office/powerpoint/2010/main" val="102722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y consultas (estadísticas)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Ventas y </a:t>
            </a:r>
            <a:r>
              <a:rPr dirty="0" err="1"/>
              <a:t>margen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mes</a:t>
            </a:r>
            <a:r>
              <a:rPr dirty="0"/>
              <a:t> y </a:t>
            </a:r>
            <a:r>
              <a:rPr dirty="0" err="1"/>
              <a:t>marca</a:t>
            </a:r>
            <a:r>
              <a:rPr dirty="0"/>
              <a:t>.</a:t>
            </a:r>
          </a:p>
          <a:p>
            <a:r>
              <a:rPr dirty="0"/>
              <a:t>Top 10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importe</a:t>
            </a:r>
            <a:r>
              <a:rPr dirty="0"/>
              <a:t>/</a:t>
            </a:r>
            <a:r>
              <a:rPr dirty="0" err="1"/>
              <a:t>unidades</a:t>
            </a:r>
            <a:r>
              <a:rPr dirty="0"/>
              <a:t>.</a:t>
            </a:r>
          </a:p>
          <a:p>
            <a:r>
              <a:rPr dirty="0"/>
              <a:t>Ticket </a:t>
            </a:r>
            <a:r>
              <a:rPr dirty="0" err="1"/>
              <a:t>promedio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canal y ciudad.</a:t>
            </a:r>
          </a:p>
          <a:p>
            <a:r>
              <a:rPr dirty="0" err="1"/>
              <a:t>Participación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forma de </a:t>
            </a:r>
            <a:r>
              <a:rPr dirty="0" err="1"/>
              <a:t>pago</a:t>
            </a:r>
            <a:r>
              <a:rPr dirty="0"/>
              <a:t>.</a:t>
            </a:r>
          </a:p>
          <a:p>
            <a:r>
              <a:rPr dirty="0" err="1"/>
              <a:t>Margen</a:t>
            </a:r>
            <a:r>
              <a:rPr dirty="0"/>
              <a:t> </a:t>
            </a:r>
            <a:r>
              <a:rPr dirty="0" err="1"/>
              <a:t>promedio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provincia</a:t>
            </a:r>
            <a:r>
              <a:rPr dirty="0"/>
              <a:t> y </a:t>
            </a:r>
            <a:r>
              <a:rPr dirty="0" err="1"/>
              <a:t>trimestre</a:t>
            </a:r>
            <a:r>
              <a:rPr dirty="0"/>
              <a:t>; </a:t>
            </a:r>
            <a:r>
              <a:rPr dirty="0" err="1"/>
              <a:t>variación</a:t>
            </a:r>
            <a:r>
              <a:rPr dirty="0"/>
              <a:t> </a:t>
            </a:r>
            <a:r>
              <a:rPr dirty="0" err="1"/>
              <a:t>mensual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Dataset aplanado para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Aplanado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Fact + </a:t>
            </a:r>
            <a:r>
              <a:rPr dirty="0" err="1"/>
              <a:t>Dimensiones</a:t>
            </a:r>
            <a:r>
              <a:rPr dirty="0"/>
              <a:t> con </a:t>
            </a:r>
            <a:r>
              <a:rPr dirty="0" err="1"/>
              <a:t>atributos</a:t>
            </a:r>
            <a:r>
              <a:rPr dirty="0"/>
              <a:t> </a:t>
            </a:r>
            <a:r>
              <a:rPr dirty="0" err="1"/>
              <a:t>relevantes</a:t>
            </a:r>
            <a:r>
              <a:rPr dirty="0"/>
              <a:t>.</a:t>
            </a:r>
          </a:p>
          <a:p>
            <a:r>
              <a:rPr dirty="0" err="1"/>
              <a:t>Incluye</a:t>
            </a:r>
            <a:r>
              <a:rPr dirty="0"/>
              <a:t>: </a:t>
            </a:r>
            <a:r>
              <a:rPr dirty="0" err="1"/>
              <a:t>fecha</a:t>
            </a:r>
            <a:r>
              <a:rPr dirty="0"/>
              <a:t>, </a:t>
            </a:r>
            <a:r>
              <a:rPr dirty="0" err="1"/>
              <a:t>región</a:t>
            </a:r>
            <a:r>
              <a:rPr dirty="0"/>
              <a:t>, </a:t>
            </a:r>
            <a:r>
              <a:rPr dirty="0" err="1"/>
              <a:t>producto</a:t>
            </a:r>
            <a:r>
              <a:rPr dirty="0"/>
              <a:t>, canal, forma de </a:t>
            </a:r>
            <a:r>
              <a:rPr dirty="0" err="1"/>
              <a:t>pago</a:t>
            </a:r>
            <a:r>
              <a:rPr dirty="0"/>
              <a:t>, </a:t>
            </a:r>
            <a:r>
              <a:rPr dirty="0" err="1"/>
              <a:t>medidas</a:t>
            </a:r>
            <a:r>
              <a:rPr dirty="0"/>
              <a:t> </a:t>
            </a:r>
            <a:r>
              <a:rPr dirty="0" err="1"/>
              <a:t>económicas</a:t>
            </a:r>
            <a:r>
              <a:rPr dirty="0"/>
              <a:t>.</a:t>
            </a:r>
          </a:p>
          <a:p>
            <a:r>
              <a:rPr dirty="0" err="1"/>
              <a:t>Formato</a:t>
            </a:r>
            <a:r>
              <a:rPr dirty="0"/>
              <a:t> .xlsx para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consumo</a:t>
            </a:r>
            <a:r>
              <a:rPr dirty="0"/>
              <a:t> </a:t>
            </a:r>
            <a:r>
              <a:rPr dirty="0" err="1"/>
              <a:t>directo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notebook.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Notebook NumPy – Estadística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Cálculo de mínimo, máximo, Q1, Q3, IQR, desvío estándar.</a:t>
            </a:r>
          </a:p>
          <a:p>
            <a:r>
              <a:t>Matriz de correlación entre variables numéricas.</a:t>
            </a:r>
          </a:p>
          <a:p>
            <a:r>
              <a:t>Base para análisis exploratorio y detección de outliers.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262626"/>
                </a:solidFill>
              </a:defRPr>
            </a:pPr>
            <a:r>
              <a:rPr lang="es-AR" dirty="0"/>
              <a:t>ANTES vs DESPUÉS: impacto del modelo estrella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79E974E1-6806-C6FD-371A-5CDC2013318A}"/>
              </a:ext>
            </a:extLst>
          </p:cNvPr>
          <p:cNvSpPr txBox="1"/>
          <p:nvPr/>
        </p:nvSpPr>
        <p:spPr>
          <a:xfrm>
            <a:off x="144379" y="2107933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3C80"/>
                </a:solidFill>
              </a:defRPr>
            </a:pPr>
            <a:r>
              <a:rPr dirty="0"/>
              <a:t>ANTES (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adhoc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OLTP)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B1869C65-1DC2-CDB3-71AE-BD929C05645D}"/>
              </a:ext>
            </a:extLst>
          </p:cNvPr>
          <p:cNvSpPr txBox="1"/>
          <p:nvPr/>
        </p:nvSpPr>
        <p:spPr>
          <a:xfrm>
            <a:off x="4713973" y="2107933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587"/>
                </a:solidFill>
              </a:defRPr>
            </a:pPr>
            <a:r>
              <a:rPr dirty="0"/>
              <a:t>DESPUÉS (DW con </a:t>
            </a:r>
            <a:r>
              <a:rPr dirty="0" err="1"/>
              <a:t>Modelo</a:t>
            </a:r>
            <a:r>
              <a:rPr dirty="0"/>
              <a:t> Estrella)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ECD64207-9191-E478-026A-6412B786AF5A}"/>
              </a:ext>
            </a:extLst>
          </p:cNvPr>
          <p:cNvSpPr txBox="1"/>
          <p:nvPr/>
        </p:nvSpPr>
        <p:spPr>
          <a:xfrm>
            <a:off x="144379" y="2656573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62626"/>
                </a:solidFill>
              </a:defRPr>
            </a:pPr>
            <a:r>
              <a:rPr dirty="0"/>
              <a:t>•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dispersos</a:t>
            </a:r>
            <a:r>
              <a:rPr dirty="0"/>
              <a:t> y </a:t>
            </a:r>
            <a:r>
              <a:rPr dirty="0" err="1"/>
              <a:t>lógica</a:t>
            </a:r>
            <a:r>
              <a:rPr dirty="0"/>
              <a:t> </a:t>
            </a:r>
            <a:r>
              <a:rPr dirty="0" err="1"/>
              <a:t>duplicada</a:t>
            </a:r>
            <a:endParaRPr dirty="0"/>
          </a:p>
          <a:p>
            <a:pPr>
              <a:defRPr sz="1800">
                <a:solidFill>
                  <a:srgbClr val="262626"/>
                </a:solidFill>
              </a:defRPr>
            </a:pPr>
            <a:r>
              <a:rPr dirty="0"/>
              <a:t>• 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lentas</a:t>
            </a:r>
            <a:r>
              <a:rPr dirty="0"/>
              <a:t> y </a:t>
            </a:r>
            <a:r>
              <a:rPr dirty="0" err="1"/>
              <a:t>difíciles</a:t>
            </a:r>
            <a:r>
              <a:rPr dirty="0"/>
              <a:t> de </a:t>
            </a:r>
            <a:r>
              <a:rPr dirty="0" err="1"/>
              <a:t>mantener</a:t>
            </a:r>
            <a:endParaRPr dirty="0"/>
          </a:p>
          <a:p>
            <a:pPr>
              <a:defRPr sz="1800">
                <a:solidFill>
                  <a:srgbClr val="262626"/>
                </a:solidFill>
              </a:defRPr>
            </a:pPr>
            <a:r>
              <a:rPr dirty="0"/>
              <a:t>•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inconsistentes</a:t>
            </a:r>
            <a:endParaRPr dirty="0"/>
          </a:p>
          <a:p>
            <a:pPr>
              <a:defRPr sz="1800">
                <a:solidFill>
                  <a:srgbClr val="262626"/>
                </a:solidFill>
              </a:defRPr>
            </a:pPr>
            <a:r>
              <a:rPr dirty="0"/>
              <a:t>• Cruces </a:t>
            </a:r>
            <a:r>
              <a:rPr dirty="0" err="1"/>
              <a:t>complejos</a:t>
            </a:r>
            <a:r>
              <a:rPr dirty="0"/>
              <a:t> entre </a:t>
            </a:r>
            <a:r>
              <a:rPr dirty="0" err="1"/>
              <a:t>dimensiones</a:t>
            </a:r>
            <a:endParaRPr dirty="0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45494633-B64A-0595-1A43-8F467677DD63}"/>
              </a:ext>
            </a:extLst>
          </p:cNvPr>
          <p:cNvSpPr txBox="1"/>
          <p:nvPr/>
        </p:nvSpPr>
        <p:spPr>
          <a:xfrm>
            <a:off x="4713973" y="2656573"/>
            <a:ext cx="3649461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62626"/>
                </a:solidFill>
              </a:defRPr>
            </a:pPr>
            <a:r>
              <a:rPr dirty="0"/>
              <a:t>• </a:t>
            </a:r>
            <a:r>
              <a:rPr dirty="0" err="1"/>
              <a:t>Métricas</a:t>
            </a:r>
            <a:r>
              <a:rPr dirty="0"/>
              <a:t> </a:t>
            </a:r>
            <a:r>
              <a:rPr dirty="0" err="1"/>
              <a:t>unificadas</a:t>
            </a:r>
            <a:r>
              <a:rPr dirty="0"/>
              <a:t> y </a:t>
            </a:r>
            <a:r>
              <a:rPr dirty="0" err="1"/>
              <a:t>clar</a:t>
            </a:r>
            <a:r>
              <a:rPr lang="en-US" dirty="0" err="1"/>
              <a:t>as</a:t>
            </a:r>
            <a:endParaRPr dirty="0"/>
          </a:p>
          <a:p>
            <a:pPr>
              <a:defRPr sz="1800">
                <a:solidFill>
                  <a:srgbClr val="262626"/>
                </a:solidFill>
              </a:defRPr>
            </a:pPr>
            <a:r>
              <a:rPr dirty="0"/>
              <a:t>• 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rápidas</a:t>
            </a:r>
            <a:r>
              <a:rPr dirty="0"/>
              <a:t> / self‑service BI</a:t>
            </a:r>
          </a:p>
          <a:p>
            <a:pPr>
              <a:defRPr sz="1800">
                <a:solidFill>
                  <a:srgbClr val="262626"/>
                </a:solidFill>
              </a:defRPr>
            </a:pPr>
            <a:r>
              <a:rPr dirty="0"/>
              <a:t>• Una sola </a:t>
            </a:r>
            <a:r>
              <a:rPr dirty="0" err="1"/>
              <a:t>versión</a:t>
            </a:r>
            <a:r>
              <a:rPr dirty="0"/>
              <a:t> de la </a:t>
            </a:r>
            <a:r>
              <a:rPr dirty="0" err="1"/>
              <a:t>verdad</a:t>
            </a:r>
            <a:endParaRPr dirty="0"/>
          </a:p>
          <a:p>
            <a:pPr>
              <a:defRPr sz="1800">
                <a:solidFill>
                  <a:srgbClr val="262626"/>
                </a:solidFill>
              </a:defRPr>
            </a:pPr>
            <a:r>
              <a:rPr dirty="0"/>
              <a:t>• </a:t>
            </a:r>
            <a:r>
              <a:rPr dirty="0" err="1"/>
              <a:t>Escalable</a:t>
            </a:r>
            <a:r>
              <a:rPr dirty="0"/>
              <a:t> 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137</TotalTime>
  <Words>504</Words>
  <Application>Microsoft Macintosh PowerPoint</Application>
  <PresentationFormat>Presentación en pantalla (4:3)</PresentationFormat>
  <Paragraphs>79</Paragraphs>
  <Slides>14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Constantia</vt:lpstr>
      <vt:lpstr>Wingdings 2</vt:lpstr>
      <vt:lpstr>Flujo</vt:lpstr>
      <vt:lpstr>Proyecto Arquitectura  Data Warehouse    Empresa de Venta de Celulares</vt:lpstr>
      <vt:lpstr>Alcance del proyecto</vt:lpstr>
      <vt:lpstr>Problemas actuales</vt:lpstr>
      <vt:lpstr>Porque un modelo estrella</vt:lpstr>
      <vt:lpstr>Objetivos</vt:lpstr>
      <vt:lpstr>OLTP normalizado – Tablas clave</vt:lpstr>
      <vt:lpstr>Arquitectura de ingesta y ETL</vt:lpstr>
      <vt:lpstr>Presentación de PowerPoint</vt:lpstr>
      <vt:lpstr>Modelo Estrella (DW)</vt:lpstr>
      <vt:lpstr>Presentación de PowerPoint</vt:lpstr>
      <vt:lpstr>KPIs y consultas (estadísticas)</vt:lpstr>
      <vt:lpstr>Dataset aplanado para Data Science</vt:lpstr>
      <vt:lpstr>Notebook NumPy – Estadística</vt:lpstr>
      <vt:lpstr>ANTES vs DESPUÉS: impacto del modelo estrella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DW – Ventas de Celulares</dc:title>
  <dc:subject/>
  <dc:creator/>
  <cp:keywords/>
  <dc:description>generated using python-pptx</dc:description>
  <cp:lastModifiedBy>Pablo Daniel Canteros</cp:lastModifiedBy>
  <cp:revision>10</cp:revision>
  <dcterms:created xsi:type="dcterms:W3CDTF">2013-01-27T09:14:16Z</dcterms:created>
  <dcterms:modified xsi:type="dcterms:W3CDTF">2025-10-08T01:09:07Z</dcterms:modified>
  <cp:category/>
</cp:coreProperties>
</file>