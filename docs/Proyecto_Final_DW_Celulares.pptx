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70" r:id="rId9"/>
    <p:sldId id="262" r:id="rId10"/>
    <p:sldId id="265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32"/>
  </p:normalViewPr>
  <p:slideViewPr>
    <p:cSldViewPr snapToGrid="0" snapToObjects="1">
      <p:cViewPr varScale="1">
        <p:scale>
          <a:sx n="106" d="100"/>
          <a:sy n="106" d="100"/>
        </p:scale>
        <p:origin x="1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Triángulo rectángulo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grpSp>
        <p:nvGrpSpPr>
          <p:cNvPr id="2" name="1 Grupo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6 Forma libre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7 Forma libre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10 Forma libre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11 Conector recto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6 Cheurón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7 Cheurón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Forma libre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Triángulo rectángulo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10 Conector recto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11 Cheurón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12 Cheurón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Forma libre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Forma libre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Triángulo rectángulo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14 Conector recto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Proyecto</a:t>
            </a:r>
            <a:r>
              <a:rPr dirty="0"/>
              <a:t> Final</a:t>
            </a:r>
            <a:br>
              <a:rPr lang="es-AR" dirty="0"/>
            </a:br>
            <a:r>
              <a:rPr dirty="0"/>
              <a:t> Data Warehouse </a:t>
            </a:r>
            <a:r>
              <a:rPr dirty="0" err="1"/>
              <a:t>Celulares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/>
              <a:t>Autores</a:t>
            </a:r>
            <a:r>
              <a:rPr dirty="0"/>
              <a:t>: Pablo </a:t>
            </a:r>
            <a:r>
              <a:rPr dirty="0" err="1"/>
              <a:t>Canteros</a:t>
            </a:r>
            <a:r>
              <a:rPr dirty="0"/>
              <a:t> y Ramiro </a:t>
            </a:r>
            <a:r>
              <a:rPr dirty="0" err="1"/>
              <a:t>Ottone</a:t>
            </a:r>
            <a:endParaRPr dirty="0"/>
          </a:p>
          <a:p>
            <a:r>
              <a:rPr dirty="0" err="1"/>
              <a:t>Materia</a:t>
            </a:r>
            <a:r>
              <a:rPr dirty="0"/>
              <a:t>: </a:t>
            </a:r>
            <a:r>
              <a:rPr lang="es-AR" dirty="0" err="1"/>
              <a:t>Modelizado</a:t>
            </a:r>
            <a:r>
              <a:rPr lang="es-AR" dirty="0"/>
              <a:t> y </a:t>
            </a:r>
            <a:r>
              <a:rPr lang="es-AR" dirty="0" err="1"/>
              <a:t>Mineria</a:t>
            </a:r>
            <a:r>
              <a:rPr lang="es-AR" dirty="0"/>
              <a:t> de datos</a:t>
            </a:r>
          </a:p>
          <a:p>
            <a:r>
              <a:rPr lang="es-AR" dirty="0"/>
              <a:t>Segundo cuatrimestre 2025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Desarrollar</a:t>
            </a:r>
            <a:r>
              <a:rPr dirty="0"/>
              <a:t> un Data Warehouse </a:t>
            </a:r>
            <a:r>
              <a:rPr dirty="0" err="1"/>
              <a:t>funcional</a:t>
            </a:r>
            <a:r>
              <a:rPr dirty="0"/>
              <a:t> y </a:t>
            </a:r>
            <a:r>
              <a:rPr dirty="0" err="1"/>
              <a:t>validado</a:t>
            </a:r>
            <a:r>
              <a:rPr dirty="0"/>
              <a:t> </a:t>
            </a:r>
            <a:r>
              <a:rPr dirty="0" err="1"/>
              <a:t>para</a:t>
            </a:r>
            <a:r>
              <a:rPr dirty="0"/>
              <a:t> la </a:t>
            </a:r>
            <a:r>
              <a:rPr dirty="0" err="1"/>
              <a:t>empresa</a:t>
            </a:r>
            <a:r>
              <a:rPr dirty="0"/>
              <a:t> </a:t>
            </a:r>
            <a:r>
              <a:rPr dirty="0" err="1"/>
              <a:t>Celulares</a:t>
            </a:r>
            <a:r>
              <a:rPr dirty="0"/>
              <a:t> S.A.,</a:t>
            </a:r>
          </a:p>
          <a:p>
            <a:r>
              <a:rPr dirty="0" err="1"/>
              <a:t>integrando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</a:t>
            </a:r>
            <a:r>
              <a:rPr dirty="0" err="1"/>
              <a:t>las</a:t>
            </a:r>
            <a:r>
              <a:rPr dirty="0"/>
              <a:t> </a:t>
            </a:r>
            <a:r>
              <a:rPr dirty="0" err="1"/>
              <a:t>etapas</a:t>
            </a:r>
            <a:r>
              <a:rPr dirty="0"/>
              <a:t> del </a:t>
            </a:r>
            <a:r>
              <a:rPr dirty="0" err="1"/>
              <a:t>proceso</a:t>
            </a:r>
            <a:r>
              <a:rPr dirty="0"/>
              <a:t>: </a:t>
            </a:r>
            <a:r>
              <a:rPr dirty="0" err="1"/>
              <a:t>desde</a:t>
            </a:r>
            <a:r>
              <a:rPr dirty="0"/>
              <a:t> la base OLTP </a:t>
            </a:r>
            <a:r>
              <a:rPr dirty="0" err="1"/>
              <a:t>hasta</a:t>
            </a:r>
            <a:r>
              <a:rPr dirty="0"/>
              <a:t> el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estadístico</a:t>
            </a:r>
            <a:r>
              <a:rPr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</a:t>
            </a:r>
            <a:r>
              <a:rPr lang="es-AR" dirty="0"/>
              <a:t> </a:t>
            </a:r>
            <a:r>
              <a:rPr dirty="0" err="1"/>
              <a:t>Objetivo</a:t>
            </a:r>
            <a:r>
              <a:rPr dirty="0"/>
              <a:t> 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:</a:t>
            </a:r>
          </a:p>
          <a:p>
            <a:pPr>
              <a:buNone/>
            </a:pPr>
            <a:r>
              <a:rPr dirty="0"/>
              <a:t>1. OLTP (</a:t>
            </a:r>
            <a:r>
              <a:rPr dirty="0" err="1"/>
              <a:t>Transaccional</a:t>
            </a:r>
            <a:r>
              <a:rPr dirty="0"/>
              <a:t>): </a:t>
            </a:r>
            <a:r>
              <a:rPr dirty="0" err="1"/>
              <a:t>operaciones</a:t>
            </a:r>
            <a:r>
              <a:rPr dirty="0"/>
              <a:t> de </a:t>
            </a:r>
            <a:r>
              <a:rPr dirty="0" err="1"/>
              <a:t>venta</a:t>
            </a:r>
            <a:r>
              <a:rPr dirty="0"/>
              <a:t>, </a:t>
            </a:r>
            <a:r>
              <a:rPr dirty="0" err="1"/>
              <a:t>productos</a:t>
            </a:r>
            <a:r>
              <a:rPr dirty="0"/>
              <a:t>, </a:t>
            </a:r>
            <a:r>
              <a:rPr dirty="0" err="1"/>
              <a:t>clientes</a:t>
            </a:r>
            <a:r>
              <a:rPr dirty="0"/>
              <a:t>, </a:t>
            </a:r>
            <a:r>
              <a:rPr dirty="0" err="1"/>
              <a:t>vendedores</a:t>
            </a:r>
            <a:r>
              <a:rPr dirty="0"/>
              <a:t>.</a:t>
            </a:r>
          </a:p>
          <a:p>
            <a:pPr>
              <a:buNone/>
            </a:pPr>
            <a:r>
              <a:rPr dirty="0"/>
              <a:t>2. ETL: </a:t>
            </a:r>
            <a:r>
              <a:rPr dirty="0" err="1"/>
              <a:t>extracción</a:t>
            </a:r>
            <a:r>
              <a:rPr dirty="0"/>
              <a:t>, </a:t>
            </a:r>
            <a:r>
              <a:rPr dirty="0" err="1"/>
              <a:t>transformación</a:t>
            </a:r>
            <a:r>
              <a:rPr dirty="0"/>
              <a:t> y </a:t>
            </a:r>
            <a:r>
              <a:rPr dirty="0" err="1"/>
              <a:t>carga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el DW.</a:t>
            </a:r>
          </a:p>
          <a:p>
            <a:pPr>
              <a:buNone/>
            </a:pPr>
            <a:r>
              <a:rPr dirty="0"/>
              <a:t>3. DW (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Estrella</a:t>
            </a:r>
            <a:r>
              <a:rPr dirty="0"/>
              <a:t>): </a:t>
            </a:r>
            <a:r>
              <a:rPr dirty="0" err="1"/>
              <a:t>almacenamiento</a:t>
            </a:r>
            <a:r>
              <a:rPr dirty="0"/>
              <a:t> </a:t>
            </a:r>
            <a:r>
              <a:rPr dirty="0" err="1"/>
              <a:t>analítico</a:t>
            </a:r>
            <a:r>
              <a:rPr dirty="0"/>
              <a:t>.</a:t>
            </a:r>
          </a:p>
          <a:p>
            <a:pPr>
              <a:buNone/>
            </a:pPr>
            <a:r>
              <a:rPr dirty="0"/>
              <a:t>4. Dataset </a:t>
            </a:r>
            <a:r>
              <a:rPr dirty="0" err="1"/>
              <a:t>Aplanado</a:t>
            </a:r>
            <a:r>
              <a:rPr dirty="0"/>
              <a:t>: vista </a:t>
            </a:r>
            <a:r>
              <a:rPr dirty="0" err="1"/>
              <a:t>consolidada</a:t>
            </a:r>
            <a:r>
              <a:rPr dirty="0"/>
              <a:t> para Python.</a:t>
            </a:r>
          </a:p>
          <a:p>
            <a:pPr>
              <a:buNone/>
            </a:pPr>
            <a:r>
              <a:rPr dirty="0"/>
              <a:t>5. Notebook </a:t>
            </a:r>
            <a:r>
              <a:rPr dirty="0" err="1"/>
              <a:t>Estadístico</a:t>
            </a:r>
            <a:r>
              <a:rPr dirty="0"/>
              <a:t>: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descriptivo</a:t>
            </a:r>
            <a:r>
              <a:rPr dirty="0"/>
              <a:t> y </a:t>
            </a:r>
            <a:r>
              <a:rPr dirty="0" err="1"/>
              <a:t>correlacional</a:t>
            </a:r>
            <a:r>
              <a:rPr dirty="0"/>
              <a:t>.</a:t>
            </a:r>
          </a:p>
          <a:p>
            <a:pPr>
              <a:buNone/>
            </a:pPr>
            <a:r>
              <a:rPr dirty="0"/>
              <a:t>6. </a:t>
            </a:r>
            <a:r>
              <a:rPr dirty="0" err="1"/>
              <a:t>Validaciones</a:t>
            </a:r>
            <a:r>
              <a:rPr dirty="0"/>
              <a:t> y </a:t>
            </a:r>
            <a:r>
              <a:rPr dirty="0" err="1"/>
              <a:t>Automatización</a:t>
            </a:r>
            <a:r>
              <a:rPr dirty="0"/>
              <a:t>: control de </a:t>
            </a:r>
            <a:r>
              <a:rPr dirty="0" err="1"/>
              <a:t>calidad</a:t>
            </a:r>
            <a:r>
              <a:rPr dirty="0"/>
              <a:t> y </a:t>
            </a:r>
            <a:r>
              <a:rPr dirty="0" err="1"/>
              <a:t>ejecución</a:t>
            </a:r>
            <a:r>
              <a:rPr dirty="0"/>
              <a:t> integral.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</a:t>
            </a:r>
            <a:r>
              <a:rPr lang="es-AR" dirty="0"/>
              <a:t> </a:t>
            </a:r>
            <a:r>
              <a:rPr dirty="0" err="1"/>
              <a:t>Arquitectura</a:t>
            </a:r>
            <a:r>
              <a:rPr dirty="0"/>
              <a:t> 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9 </a:t>
            </a:r>
            <a:r>
              <a:rPr dirty="0" err="1"/>
              <a:t>tablas</a:t>
            </a:r>
            <a:r>
              <a:rPr dirty="0"/>
              <a:t> </a:t>
            </a:r>
            <a:r>
              <a:rPr dirty="0" err="1"/>
              <a:t>principales</a:t>
            </a:r>
            <a:r>
              <a:rPr dirty="0"/>
              <a:t>: </a:t>
            </a:r>
            <a:r>
              <a:rPr dirty="0" err="1"/>
              <a:t>Ventas</a:t>
            </a:r>
            <a:r>
              <a:rPr dirty="0"/>
              <a:t>, </a:t>
            </a:r>
            <a:r>
              <a:rPr dirty="0" err="1"/>
              <a:t>DetalleVenta</a:t>
            </a:r>
            <a:r>
              <a:rPr dirty="0"/>
              <a:t>, </a:t>
            </a:r>
            <a:r>
              <a:rPr dirty="0" err="1"/>
              <a:t>Clientes</a:t>
            </a:r>
            <a:r>
              <a:rPr dirty="0"/>
              <a:t>, </a:t>
            </a:r>
            <a:r>
              <a:rPr dirty="0" err="1"/>
              <a:t>Vendedores</a:t>
            </a:r>
            <a:r>
              <a:rPr dirty="0"/>
              <a:t>, Locales, </a:t>
            </a:r>
            <a:r>
              <a:rPr dirty="0" err="1"/>
              <a:t>Modelos</a:t>
            </a:r>
            <a:r>
              <a:rPr dirty="0"/>
              <a:t>, </a:t>
            </a:r>
            <a:r>
              <a:rPr dirty="0" err="1"/>
              <a:t>Marcas</a:t>
            </a:r>
            <a:r>
              <a:rPr dirty="0"/>
              <a:t>, </a:t>
            </a:r>
            <a:r>
              <a:rPr dirty="0" err="1"/>
              <a:t>FormasPago</a:t>
            </a:r>
            <a:r>
              <a:rPr dirty="0"/>
              <a:t>, </a:t>
            </a:r>
            <a:r>
              <a:rPr dirty="0" err="1"/>
              <a:t>Ciudades</a:t>
            </a:r>
            <a:r>
              <a:rPr dirty="0"/>
              <a:t>.</a:t>
            </a:r>
          </a:p>
          <a:p>
            <a:r>
              <a:rPr dirty="0" err="1"/>
              <a:t>Cumple</a:t>
            </a:r>
            <a:r>
              <a:rPr dirty="0"/>
              <a:t> con </a:t>
            </a:r>
            <a:r>
              <a:rPr lang="es-AR" dirty="0"/>
              <a:t>el </a:t>
            </a:r>
            <a:r>
              <a:rPr dirty="0"/>
              <a:t>control de </a:t>
            </a:r>
            <a:r>
              <a:rPr dirty="0" err="1"/>
              <a:t>integridad</a:t>
            </a:r>
            <a:r>
              <a:rPr dirty="0"/>
              <a:t> </a:t>
            </a:r>
            <a:r>
              <a:rPr dirty="0" err="1"/>
              <a:t>referencial</a:t>
            </a:r>
            <a:r>
              <a:rPr dirty="0"/>
              <a:t>.</a:t>
            </a:r>
          </a:p>
          <a:p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reales</a:t>
            </a:r>
            <a:r>
              <a:rPr dirty="0"/>
              <a:t> y </a:t>
            </a:r>
            <a:r>
              <a:rPr dirty="0" err="1"/>
              <a:t>consistentes</a:t>
            </a:r>
            <a:r>
              <a:rPr dirty="0"/>
              <a:t> </a:t>
            </a:r>
            <a:r>
              <a:rPr dirty="0" err="1"/>
              <a:t>para</a:t>
            </a:r>
            <a:r>
              <a:rPr dirty="0"/>
              <a:t> el </a:t>
            </a:r>
            <a:r>
              <a:rPr dirty="0" err="1"/>
              <a:t>proceso</a:t>
            </a:r>
            <a:r>
              <a:rPr dirty="0"/>
              <a:t> ETL.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3</a:t>
            </a:r>
            <a:r>
              <a:rPr lang="es-AR" dirty="0"/>
              <a:t> </a:t>
            </a:r>
            <a:r>
              <a:rPr dirty="0" err="1"/>
              <a:t>Modelo</a:t>
            </a:r>
            <a:r>
              <a:rPr dirty="0"/>
              <a:t> OLTP – Base </a:t>
            </a:r>
            <a:r>
              <a:rPr dirty="0" err="1"/>
              <a:t>Transaccional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dirty="0"/>
              <a:t>Tablas </a:t>
            </a:r>
            <a:r>
              <a:rPr dirty="0" err="1"/>
              <a:t>Dimensión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DimFecha</a:t>
            </a:r>
            <a:endParaRPr dirty="0"/>
          </a:p>
          <a:p>
            <a:r>
              <a:rPr dirty="0"/>
              <a:t>- </a:t>
            </a:r>
            <a:r>
              <a:rPr dirty="0" err="1"/>
              <a:t>DimCliente</a:t>
            </a:r>
            <a:endParaRPr dirty="0"/>
          </a:p>
          <a:p>
            <a:r>
              <a:rPr dirty="0"/>
              <a:t>- </a:t>
            </a:r>
            <a:r>
              <a:rPr dirty="0" err="1"/>
              <a:t>DimProducto</a:t>
            </a:r>
            <a:endParaRPr dirty="0"/>
          </a:p>
          <a:p>
            <a:r>
              <a:rPr dirty="0"/>
              <a:t>- </a:t>
            </a:r>
            <a:r>
              <a:rPr dirty="0" err="1"/>
              <a:t>DimVendedor</a:t>
            </a:r>
            <a:r>
              <a:rPr dirty="0"/>
              <a:t> (SCD </a:t>
            </a:r>
            <a:r>
              <a:rPr dirty="0" err="1"/>
              <a:t>Tipo</a:t>
            </a:r>
            <a:r>
              <a:rPr dirty="0"/>
              <a:t> 2</a:t>
            </a:r>
            <a:r>
              <a:rPr lang="es-AR" dirty="0"/>
              <a:t> “lentamente cambiante”</a:t>
            </a:r>
            <a:r>
              <a:rPr dirty="0"/>
              <a:t>)</a:t>
            </a:r>
          </a:p>
          <a:p>
            <a:r>
              <a:rPr dirty="0"/>
              <a:t>- </a:t>
            </a:r>
            <a:r>
              <a:rPr dirty="0" err="1"/>
              <a:t>DimLocal</a:t>
            </a:r>
            <a:endParaRPr dirty="0"/>
          </a:p>
          <a:p>
            <a:r>
              <a:rPr dirty="0"/>
              <a:t>- </a:t>
            </a:r>
            <a:r>
              <a:rPr dirty="0" err="1"/>
              <a:t>DimFormaPago</a:t>
            </a:r>
            <a:endParaRPr dirty="0"/>
          </a:p>
          <a:p>
            <a:r>
              <a:rPr dirty="0"/>
              <a:t>- </a:t>
            </a:r>
            <a:r>
              <a:rPr dirty="0" err="1"/>
              <a:t>DimCanal</a:t>
            </a:r>
            <a:endParaRPr dirty="0"/>
          </a:p>
          <a:p>
            <a:r>
              <a:rPr dirty="0"/>
              <a:t>- </a:t>
            </a:r>
            <a:r>
              <a:rPr dirty="0" err="1"/>
              <a:t>DimMoneda</a:t>
            </a:r>
            <a:r>
              <a:rPr dirty="0"/>
              <a:t> (</a:t>
            </a:r>
            <a:r>
              <a:rPr lang="en-US" dirty="0" err="1"/>
              <a:t>dim_ExchangeRate</a:t>
            </a:r>
            <a:r>
              <a:rPr dirty="0"/>
              <a:t>)</a:t>
            </a:r>
          </a:p>
          <a:p>
            <a:endParaRPr dirty="0"/>
          </a:p>
          <a:p>
            <a:pPr>
              <a:buNone/>
            </a:pPr>
            <a:r>
              <a:rPr dirty="0" err="1"/>
              <a:t>Tabla</a:t>
            </a:r>
            <a:r>
              <a:rPr dirty="0"/>
              <a:t> de </a:t>
            </a:r>
            <a:r>
              <a:rPr dirty="0" err="1"/>
              <a:t>Hechos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FactVentas</a:t>
            </a:r>
            <a:r>
              <a:rPr dirty="0"/>
              <a:t>: </a:t>
            </a:r>
            <a:r>
              <a:rPr dirty="0" err="1"/>
              <a:t>mide</a:t>
            </a:r>
            <a:r>
              <a:rPr dirty="0"/>
              <a:t> </a:t>
            </a:r>
            <a:r>
              <a:rPr dirty="0" err="1"/>
              <a:t>ventas</a:t>
            </a:r>
            <a:r>
              <a:rPr dirty="0"/>
              <a:t>, </a:t>
            </a:r>
            <a:r>
              <a:rPr dirty="0" err="1"/>
              <a:t>cantidades</a:t>
            </a:r>
            <a:r>
              <a:rPr dirty="0"/>
              <a:t>, </a:t>
            </a:r>
            <a:r>
              <a:rPr dirty="0" err="1"/>
              <a:t>importes</a:t>
            </a:r>
            <a:r>
              <a:rPr dirty="0"/>
              <a:t> y </a:t>
            </a:r>
            <a:r>
              <a:rPr dirty="0" err="1"/>
              <a:t>márgenes</a:t>
            </a:r>
            <a:r>
              <a:rPr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4</a:t>
            </a:r>
            <a:r>
              <a:rPr lang="es-AR" dirty="0"/>
              <a:t>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Estrella</a:t>
            </a:r>
            <a:r>
              <a:rPr dirty="0"/>
              <a:t> – Data Warehouse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Modelo</a:t>
            </a:r>
            <a:r>
              <a:rPr dirty="0"/>
              <a:t> Estrella – Data Warehouse</a:t>
            </a:r>
          </a:p>
        </p:txBody>
      </p:sp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5C4B4CE3-6B1E-7B5C-0F9C-965115D90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9412" y="1481137"/>
            <a:ext cx="7387388" cy="4618873"/>
          </a:xfrm>
        </p:spPr>
      </p:pic>
    </p:spTree>
    <p:extLst>
      <p:ext uri="{BB962C8B-B14F-4D97-AF65-F5344CB8AC3E}">
        <p14:creationId xmlns:p14="http://schemas.microsoft.com/office/powerpoint/2010/main" val="1326480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Dimensión seleccionada: DimVendedor</a:t>
            </a:r>
          </a:p>
          <a:p>
            <a:endParaRPr/>
          </a:p>
          <a:p>
            <a:r>
              <a:t>Motivo: los atributos de los vendedores cambian en el tiempo (categoría, local, zona o desempeño) y deben conservar su historia.</a:t>
            </a:r>
          </a:p>
          <a:p>
            <a:endParaRPr/>
          </a:p>
          <a:p>
            <a:r>
              <a:t>Implementación técnica:</a:t>
            </a:r>
          </a:p>
          <a:p>
            <a:r>
              <a:t>- Columnas: fecha_inicio, fecha_fin, es_actual, version.</a:t>
            </a:r>
          </a:p>
          <a:p>
            <a:r>
              <a:t>- Índice único UQ_DimVendedor_Actual asegura una sola versión vigente por vendedor.</a:t>
            </a:r>
          </a:p>
          <a:p>
            <a:r>
              <a:t>- ETL incremental detecta cambios y genera nuevas versiones.</a:t>
            </a:r>
          </a:p>
          <a:p>
            <a:endParaRPr/>
          </a:p>
          <a:p>
            <a:r>
              <a:t>Ejemplo: un vendedor pasa de Inicial a Medio y luego a Top → se generan nuevas versiones manteniendo el historial.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5</a:t>
            </a:r>
            <a:r>
              <a:rPr lang="es-AR" dirty="0"/>
              <a:t> </a:t>
            </a:r>
            <a:r>
              <a:rPr dirty="0" err="1"/>
              <a:t>Dimensión</a:t>
            </a:r>
            <a:r>
              <a:rPr dirty="0"/>
              <a:t> Lentamente </a:t>
            </a:r>
            <a:r>
              <a:rPr dirty="0" err="1"/>
              <a:t>Cambiante</a:t>
            </a:r>
            <a:r>
              <a:rPr dirty="0"/>
              <a:t> (SCD </a:t>
            </a:r>
            <a:r>
              <a:rPr dirty="0" err="1"/>
              <a:t>Tipo</a:t>
            </a:r>
            <a:r>
              <a:rPr dirty="0"/>
              <a:t> 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5</a:t>
            </a:r>
            <a:r>
              <a:rPr lang="es-AR" dirty="0"/>
              <a:t> </a:t>
            </a:r>
            <a:r>
              <a:rPr dirty="0" err="1"/>
              <a:t>Dimensión</a:t>
            </a:r>
            <a:r>
              <a:rPr dirty="0"/>
              <a:t> Lentamente </a:t>
            </a:r>
            <a:r>
              <a:rPr dirty="0" err="1"/>
              <a:t>Cambiante</a:t>
            </a:r>
            <a:r>
              <a:rPr dirty="0"/>
              <a:t> (SCD </a:t>
            </a:r>
            <a:r>
              <a:rPr dirty="0" err="1"/>
              <a:t>Tipo</a:t>
            </a:r>
            <a:r>
              <a:rPr dirty="0"/>
              <a:t> 2)</a:t>
            </a:r>
          </a:p>
        </p:txBody>
      </p:sp>
      <p:pic>
        <p:nvPicPr>
          <p:cNvPr id="5" name="4 Marcador de contenido" descr="lentamente cambiante vendedor.jpeg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064" r="15560"/>
          <a:stretch/>
        </p:blipFill>
        <p:spPr>
          <a:xfrm>
            <a:off x="722396" y="2070847"/>
            <a:ext cx="6725151" cy="3174081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DimFecha</a:t>
            </a:r>
            <a:r>
              <a:rPr dirty="0"/>
              <a:t>: 10 </a:t>
            </a:r>
            <a:r>
              <a:rPr dirty="0" err="1"/>
              <a:t>años</a:t>
            </a:r>
            <a:r>
              <a:rPr dirty="0"/>
              <a:t> de </a:t>
            </a:r>
            <a:r>
              <a:rPr dirty="0" err="1"/>
              <a:t>registros</a:t>
            </a:r>
            <a:r>
              <a:rPr dirty="0"/>
              <a:t>, </a:t>
            </a:r>
            <a:r>
              <a:rPr dirty="0" err="1"/>
              <a:t>atributos</a:t>
            </a:r>
            <a:r>
              <a:rPr dirty="0"/>
              <a:t> de </a:t>
            </a:r>
            <a:r>
              <a:rPr dirty="0" err="1"/>
              <a:t>día</a:t>
            </a:r>
            <a:r>
              <a:rPr dirty="0"/>
              <a:t>, </a:t>
            </a:r>
            <a:r>
              <a:rPr dirty="0" err="1"/>
              <a:t>mes</a:t>
            </a:r>
            <a:r>
              <a:rPr dirty="0"/>
              <a:t>, </a:t>
            </a:r>
            <a:r>
              <a:rPr dirty="0" err="1"/>
              <a:t>trimestre</a:t>
            </a:r>
            <a:r>
              <a:rPr dirty="0"/>
              <a:t> y fin de </a:t>
            </a:r>
            <a:r>
              <a:rPr dirty="0" err="1"/>
              <a:t>semana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DimCanal</a:t>
            </a:r>
            <a:r>
              <a:rPr dirty="0"/>
              <a:t>: </a:t>
            </a:r>
            <a:r>
              <a:rPr dirty="0" err="1"/>
              <a:t>agrupa</a:t>
            </a:r>
            <a:r>
              <a:rPr dirty="0"/>
              <a:t> </a:t>
            </a:r>
            <a:r>
              <a:rPr dirty="0" err="1"/>
              <a:t>canales</a:t>
            </a:r>
            <a:r>
              <a:rPr dirty="0"/>
              <a:t> de </a:t>
            </a:r>
            <a:r>
              <a:rPr dirty="0" err="1"/>
              <a:t>venta</a:t>
            </a:r>
            <a:r>
              <a:rPr dirty="0"/>
              <a:t> (Web, Local, </a:t>
            </a:r>
            <a:r>
              <a:rPr lang="es-AR" dirty="0"/>
              <a:t>online</a:t>
            </a:r>
            <a:r>
              <a:rPr dirty="0"/>
              <a:t>)</a:t>
            </a:r>
          </a:p>
          <a:p>
            <a:r>
              <a:rPr dirty="0"/>
              <a:t>• </a:t>
            </a:r>
            <a:r>
              <a:rPr dirty="0" err="1"/>
              <a:t>DimMoneda</a:t>
            </a:r>
            <a:r>
              <a:rPr dirty="0"/>
              <a:t>: ARS, USD, EUR, BRL con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cambio</a:t>
            </a:r>
            <a:r>
              <a:rPr dirty="0"/>
              <a:t> y </a:t>
            </a:r>
            <a:r>
              <a:rPr dirty="0" err="1"/>
              <a:t>moneda</a:t>
            </a:r>
            <a:r>
              <a:rPr dirty="0"/>
              <a:t> base.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6</a:t>
            </a:r>
            <a:r>
              <a:rPr lang="es-AR" dirty="0"/>
              <a:t> </a:t>
            </a:r>
            <a:r>
              <a:rPr dirty="0" err="1"/>
              <a:t>Dimensiones</a:t>
            </a:r>
            <a:r>
              <a:rPr dirty="0"/>
              <a:t> </a:t>
            </a:r>
            <a:r>
              <a:rPr dirty="0" err="1"/>
              <a:t>complementarias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1. </a:t>
            </a:r>
            <a:r>
              <a:rPr dirty="0" err="1"/>
              <a:t>Marca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vendida</a:t>
            </a:r>
            <a:r>
              <a:rPr dirty="0"/>
              <a:t>.</a:t>
            </a:r>
          </a:p>
          <a:p>
            <a:r>
              <a:rPr dirty="0"/>
              <a:t>2. </a:t>
            </a:r>
            <a:r>
              <a:rPr dirty="0" err="1"/>
              <a:t>Vendedor</a:t>
            </a:r>
            <a:r>
              <a:rPr dirty="0"/>
              <a:t> con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ventas</a:t>
            </a:r>
            <a:r>
              <a:rPr dirty="0"/>
              <a:t>.</a:t>
            </a:r>
          </a:p>
          <a:p>
            <a:r>
              <a:rPr dirty="0"/>
              <a:t>3. Local con mayor </a:t>
            </a:r>
            <a:r>
              <a:rPr dirty="0" err="1"/>
              <a:t>margen</a:t>
            </a:r>
            <a:r>
              <a:rPr dirty="0"/>
              <a:t>.</a:t>
            </a:r>
          </a:p>
          <a:p>
            <a:r>
              <a:rPr dirty="0"/>
              <a:t>4. </a:t>
            </a:r>
            <a:r>
              <a:rPr dirty="0" err="1"/>
              <a:t>Método</a:t>
            </a:r>
            <a:r>
              <a:rPr dirty="0"/>
              <a:t> de </a:t>
            </a:r>
            <a:r>
              <a:rPr dirty="0" err="1"/>
              <a:t>pago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usado</a:t>
            </a:r>
            <a:r>
              <a:rPr dirty="0"/>
              <a:t>.</a:t>
            </a:r>
          </a:p>
          <a:p>
            <a:r>
              <a:rPr dirty="0"/>
              <a:t>5. </a:t>
            </a:r>
            <a:r>
              <a:rPr dirty="0" err="1"/>
              <a:t>Trimestre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bajo</a:t>
            </a:r>
            <a:r>
              <a:rPr dirty="0"/>
              <a:t>.</a:t>
            </a:r>
          </a:p>
          <a:p>
            <a:r>
              <a:rPr dirty="0"/>
              <a:t>6. </a:t>
            </a:r>
            <a:r>
              <a:rPr dirty="0" err="1"/>
              <a:t>Trimestre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alto.</a:t>
            </a:r>
          </a:p>
          <a:p>
            <a:r>
              <a:rPr dirty="0"/>
              <a:t>7.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vendido</a:t>
            </a:r>
            <a:r>
              <a:rPr dirty="0"/>
              <a:t>.</a:t>
            </a:r>
          </a:p>
          <a:p>
            <a:r>
              <a:rPr dirty="0"/>
              <a:t>8. </a:t>
            </a:r>
            <a:r>
              <a:rPr dirty="0" err="1"/>
              <a:t>Análisis</a:t>
            </a:r>
            <a:r>
              <a:rPr dirty="0"/>
              <a:t> temporal (</a:t>
            </a:r>
            <a:r>
              <a:rPr dirty="0" err="1"/>
              <a:t>YoY</a:t>
            </a:r>
            <a:r>
              <a:rPr dirty="0"/>
              <a:t>/</a:t>
            </a:r>
            <a:r>
              <a:rPr dirty="0" err="1"/>
              <a:t>MoM</a:t>
            </a:r>
            <a:r>
              <a:rPr dirty="0"/>
              <a:t>).</a:t>
            </a:r>
          </a:p>
          <a:p>
            <a:r>
              <a:rPr dirty="0"/>
              <a:t>9. ABC/Pareto.</a:t>
            </a:r>
          </a:p>
          <a:p>
            <a:r>
              <a:rPr dirty="0"/>
              <a:t>10. RFM</a:t>
            </a:r>
            <a:r>
              <a:rPr lang="es-AR" dirty="0"/>
              <a:t> (</a:t>
            </a:r>
            <a:r>
              <a:rPr lang="es-AR" dirty="0" err="1"/>
              <a:t>Recency</a:t>
            </a:r>
            <a:r>
              <a:rPr lang="es-AR" dirty="0"/>
              <a:t>, </a:t>
            </a:r>
            <a:r>
              <a:rPr lang="es-AR" dirty="0" err="1"/>
              <a:t>Frequency</a:t>
            </a:r>
            <a:r>
              <a:rPr lang="es-AR" dirty="0"/>
              <a:t>, </a:t>
            </a:r>
            <a:r>
              <a:rPr lang="es-AR" dirty="0" err="1"/>
              <a:t>Monetary</a:t>
            </a:r>
            <a:r>
              <a:rPr lang="es-AR" dirty="0"/>
              <a:t>)</a:t>
            </a:r>
            <a:endParaRPr dirty="0"/>
          </a:p>
          <a:p>
            <a:endParaRPr dirty="0"/>
          </a:p>
          <a:p>
            <a:pPr>
              <a:buNone/>
            </a:pP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multimoneda</a:t>
            </a:r>
            <a:r>
              <a:rPr dirty="0"/>
              <a:t> con </a:t>
            </a:r>
            <a:r>
              <a:rPr dirty="0" err="1"/>
              <a:t>márgenes</a:t>
            </a:r>
            <a:r>
              <a:rPr dirty="0"/>
              <a:t> </a:t>
            </a:r>
            <a:r>
              <a:rPr dirty="0" err="1"/>
              <a:t>ajustados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cambio</a:t>
            </a:r>
            <a:r>
              <a:rPr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7 </a:t>
            </a:r>
            <a:r>
              <a:rPr dirty="0" err="1"/>
              <a:t>Consultas</a:t>
            </a:r>
            <a:r>
              <a:rPr dirty="0"/>
              <a:t> </a:t>
            </a:r>
            <a:r>
              <a:rPr lang="es-AR" dirty="0"/>
              <a:t>Implementadas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sz="2000" b="1" dirty="0"/>
              <a:t>Crecimiento sostenido:</a:t>
            </a:r>
            <a:r>
              <a:rPr lang="es-AR" sz="2000" dirty="0"/>
              <a:t> aumento progresivo de ventas y márgenes en los últimos trimestres.</a:t>
            </a:r>
          </a:p>
          <a:p>
            <a:r>
              <a:rPr lang="es-AR" sz="2000" b="1" dirty="0"/>
              <a:t>Concentración:</a:t>
            </a:r>
            <a:r>
              <a:rPr lang="es-AR" sz="2000" dirty="0"/>
              <a:t> 3 marcas y 2 locales representan más del 70% del total vendido.</a:t>
            </a:r>
          </a:p>
          <a:p>
            <a:r>
              <a:rPr lang="es-AR" sz="2000" b="1" dirty="0"/>
              <a:t>Estacionalidad:</a:t>
            </a:r>
            <a:r>
              <a:rPr lang="es-AR" sz="2000" dirty="0"/>
              <a:t> fuerte pico en Q4, asociado a fechas comerciales.</a:t>
            </a:r>
          </a:p>
          <a:p>
            <a:r>
              <a:rPr lang="es-AR" sz="2000" b="1" dirty="0" err="1"/>
              <a:t>Fidelización</a:t>
            </a:r>
            <a:r>
              <a:rPr lang="es-AR" sz="2000" b="1" dirty="0"/>
              <a:t>:</a:t>
            </a:r>
            <a:r>
              <a:rPr lang="es-AR" sz="2000" dirty="0"/>
              <a:t> los clientes frecuentes generan mayor rentabilidad; </a:t>
            </a:r>
          </a:p>
          <a:p>
            <a:r>
              <a:rPr lang="es-AR" sz="2000" b="1" dirty="0"/>
              <a:t>Monedas:</a:t>
            </a:r>
            <a:r>
              <a:rPr lang="es-AR" sz="2000" dirty="0"/>
              <a:t> la conversión a ARS muestra estabilidad del tipo de cambio; el análisis </a:t>
            </a:r>
            <a:r>
              <a:rPr lang="es-AR" sz="2000" dirty="0" err="1"/>
              <a:t>multimoneda</a:t>
            </a:r>
            <a:r>
              <a:rPr lang="es-AR" sz="2000" dirty="0"/>
              <a:t> confirma coherencia de resultados.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8 </a:t>
            </a:r>
            <a:r>
              <a:rPr dirty="0" err="1"/>
              <a:t>Conclusiones</a:t>
            </a:r>
            <a:r>
              <a:rPr dirty="0"/>
              <a:t> </a:t>
            </a:r>
            <a:r>
              <a:rPr lang="es-AR" dirty="0"/>
              <a:t>finales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rencia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renc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93</TotalTime>
  <Words>574</Words>
  <Application>Microsoft Macintosh PowerPoint</Application>
  <PresentationFormat>Presentación en pantalla (4:3)</PresentationFormat>
  <Paragraphs>68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Lucida Sans Unicode</vt:lpstr>
      <vt:lpstr>Verdana</vt:lpstr>
      <vt:lpstr>Wingdings 2</vt:lpstr>
      <vt:lpstr>Wingdings 3</vt:lpstr>
      <vt:lpstr>Concurrencia</vt:lpstr>
      <vt:lpstr>Proyecto Final  Data Warehouse Celulares</vt:lpstr>
      <vt:lpstr>1 Objetivo General</vt:lpstr>
      <vt:lpstr>2 Arquitectura General</vt:lpstr>
      <vt:lpstr>3 Modelo OLTP – Base Transaccional</vt:lpstr>
      <vt:lpstr>4 Modelo Estrella – Data Warehouse</vt:lpstr>
      <vt:lpstr>Modelo Estrella – Data Warehouse</vt:lpstr>
      <vt:lpstr>5 Dimensión Lentamente Cambiante (SCD Tipo 2)</vt:lpstr>
      <vt:lpstr>5 Dimensión Lentamente Cambiante (SCD Tipo 2)</vt:lpstr>
      <vt:lpstr>6 Dimensiones complementarias</vt:lpstr>
      <vt:lpstr>7 Consultas Implementadas</vt:lpstr>
      <vt:lpstr>8 Conclusiones finales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Segundo Parcial – Proyecto Final: Data Warehouse Celulares</dc:title>
  <dc:subject/>
  <dc:creator/>
  <cp:keywords/>
  <dc:description>generated using python-pptx</dc:description>
  <cp:lastModifiedBy>Pablo Daniel Canteros</cp:lastModifiedBy>
  <cp:revision>14</cp:revision>
  <dcterms:created xsi:type="dcterms:W3CDTF">2013-01-27T09:14:16Z</dcterms:created>
  <dcterms:modified xsi:type="dcterms:W3CDTF">2025-11-06T23:30:46Z</dcterms:modified>
  <cp:category/>
</cp:coreProperties>
</file>